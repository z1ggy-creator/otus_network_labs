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72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E50FCA-11BE-4806-BC0C-9D12CEFBC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EEB7FFA-07E7-4CC3-BF23-1FC9A106A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D4438B-DFE3-48F5-B65D-B9BD43DE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D94C07-FCF5-465F-A2FB-92BAF245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D46C96-DFCA-45B5-AF22-854B9CE6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29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C4B72-DDDE-4059-975F-CBB1D344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28B0AA-DB36-46CD-AC42-176B5D60C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087B38-8786-4A8E-8487-A30C0143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2A4693-EA39-4B2E-899E-195E70782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5E4D84-DD46-4001-BECA-B566D6E4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684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D5CA93-7C7B-423A-9B8F-FFEB9BF37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D3DE6B-E5F1-4518-BE3A-D30412366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3B3F-B238-417D-BBBE-609D09F53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1E85E3-2137-40C0-B101-597949E6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07C5FB-9A8F-4439-BC52-AFC168F73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28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917E0-AB8E-4E90-BC07-55DA9D0A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CA23F0-D1EB-4646-A00E-3A50C70B9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202105-4346-4C1E-97AB-6C98D0DBE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7EF3C90-3AFE-4698-BA6A-6C9591F8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6982E4-C6CD-4B15-9C4A-E08AF8FC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E964E0-79F9-487D-ACB7-40E3EA8A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922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54FAA3-52EF-49CF-A487-FE24B471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979BB-2373-4AB8-9A89-A59088A0D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83545FB-19F5-4708-92E1-9895067AA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91EBDDE-CE87-4F0A-86E0-6CD719953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85D8BF-7F9E-4883-B1F0-48184CAE2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1E675D-2DB5-4684-86F4-5575C27F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A9ADEC7-73DE-4453-8365-15733876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C6BC3C4-8845-4524-827A-E4B372A8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666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4CF77-7694-4FE6-AA1E-536114C7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9B578B-7E6E-4067-BD97-F371DFAB7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CFD8BAC-3D0B-4BA3-9426-3B82CB5A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5F7485-EAA9-4243-850A-3B9CCB4C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720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B2CA2A-8A91-4B1E-A1DF-C463436E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2CE09F-C123-4257-B13B-72CB6BF5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20ED5E-12D8-4B19-9C3B-75F5001E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94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50B2E-6418-4930-BF68-500ED38A1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D60D4-D2DE-4A6F-AF93-737D5F01C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24D539-D4D4-41B6-832C-9BADC8B4B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A77DF2-57AE-49CF-B3DB-994E3F37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62CEBD-9AC1-47C6-8FC6-6FB548E58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BBEAE7-6FCB-49AD-86AC-414EE2AA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708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6D898-E4D1-4E46-9012-EF1F8CB1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668D405-BA54-43B0-AD1A-76BAF16F5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EB03F7-86D9-40FA-8696-EE44D0A86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74FC93-FC1F-403A-9A00-77E6AFD63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50D4F8-D01D-4A72-BC67-DDD48B67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175D63-3E67-4D9F-BAAB-F320BE6B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15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269F5-6E86-4C0E-A4C7-EAE61A77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134114-4CC1-4902-983D-0EDBDAEDC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07D153-78D6-4266-82BD-7A1EE9840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88E5B0-5512-4905-8023-72154EDAF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57103E-477B-48AF-BB19-394E29DB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81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2E268B2-FE65-41F2-B9CB-7D6414D37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263E19-7325-4F86-B522-4CA0DDB58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461F4D-0838-4DDF-8A40-E21C5CB8C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8DF3FC-C32E-46D7-B898-EDE5876C0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3C11FF-40F7-4CE5-8623-BA274540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94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660DF-DD1D-4AF2-A8FD-80F3AEA1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E8BFF-EB80-4BBD-8007-ABF942CEF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2F8FB9-1813-4ADA-BEF4-BFB608389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F990C-9653-4ABC-BFC5-9D961F104D0F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7AAB8-41C1-4403-96CA-C255C6D22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19557E-5F04-4097-9DFB-35C3E4173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02FC4-0DAC-4F47-AB36-C58380D12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68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0B106-E433-4849-804F-AEFEAB34DD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Проектирование отказоустойчивой сетевой фабрики на базе протокола IPv6 с обеспечением внешнего подключения к сети Интернет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F65190-3C1D-47F0-AC7B-81C7E8556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63641"/>
            <a:ext cx="9144000" cy="591490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Курс «Дизайн сетей ЦОД» </a:t>
            </a:r>
          </a:p>
          <a:p>
            <a:r>
              <a:rPr lang="ru-RU" dirty="0"/>
              <a:t>Москва 2026</a:t>
            </a:r>
          </a:p>
        </p:txBody>
      </p:sp>
    </p:spTree>
    <p:extLst>
      <p:ext uri="{BB962C8B-B14F-4D97-AF65-F5344CB8AC3E}">
        <p14:creationId xmlns:p14="http://schemas.microsoft.com/office/powerpoint/2010/main" val="3908123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9D5C64-3A51-423E-BFF1-9CCD1855A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AB881D-DA64-4F32-AD6E-E4759F668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Построение современной масштабируемой сети ЦОД на базе технологий VXLAN/EVPN</a:t>
            </a:r>
          </a:p>
          <a:p>
            <a:r>
              <a:rPr lang="ru-RU" dirty="0"/>
              <a:t>Обеспечение отказоустойчивости — отсутствие единых точек отказа</a:t>
            </a:r>
          </a:p>
          <a:p>
            <a:r>
              <a:rPr lang="ru-RU" dirty="0"/>
              <a:t>Полный переход на IPv6 в транспортной сети (</a:t>
            </a:r>
            <a:r>
              <a:rPr lang="ru-RU" dirty="0" err="1"/>
              <a:t>underlay</a:t>
            </a:r>
            <a:r>
              <a:rPr lang="ru-RU" dirty="0"/>
              <a:t>) — соответствие современным стандартам</a:t>
            </a:r>
          </a:p>
          <a:p>
            <a:r>
              <a:rPr lang="ru-RU" dirty="0"/>
              <a:t>Реализация </a:t>
            </a:r>
            <a:r>
              <a:rPr lang="ru-RU" dirty="0" err="1"/>
              <a:t>мультиарендности</a:t>
            </a:r>
            <a:r>
              <a:rPr lang="ru-RU" dirty="0"/>
              <a:t> (VRF) — изоляция клиентов в единой инфраструктуре</a:t>
            </a:r>
          </a:p>
          <a:p>
            <a:r>
              <a:rPr lang="ru-RU" dirty="0"/>
              <a:t>Организация внешнего подключения к Интернет с гарантией изоляции клиентских сегментов</a:t>
            </a:r>
          </a:p>
        </p:txBody>
      </p:sp>
    </p:spTree>
    <p:extLst>
      <p:ext uri="{BB962C8B-B14F-4D97-AF65-F5344CB8AC3E}">
        <p14:creationId xmlns:p14="http://schemas.microsoft.com/office/powerpoint/2010/main" val="841923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EF322-9A16-47F3-BEC5-1BF73EDC3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FC298C-0BCF-4634-B2D7-C4A12D777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Топология "</a:t>
            </a:r>
            <a:r>
              <a:rPr lang="ru-RU" dirty="0" err="1"/>
              <a:t>Spine-Leaf</a:t>
            </a:r>
            <a:r>
              <a:rPr lang="ru-RU" dirty="0"/>
              <a:t>" — стандарт для современных ЦОД:</a:t>
            </a:r>
          </a:p>
          <a:p>
            <a:endParaRPr lang="ru-RU" dirty="0"/>
          </a:p>
          <a:p>
            <a:r>
              <a:rPr lang="ru-RU" dirty="0"/>
              <a:t>2 </a:t>
            </a:r>
            <a:r>
              <a:rPr lang="ru-RU" dirty="0" err="1"/>
              <a:t>Spine</a:t>
            </a:r>
            <a:r>
              <a:rPr lang="ru-RU" dirty="0"/>
              <a:t>-коммутатора (ядро фабрики)</a:t>
            </a:r>
          </a:p>
          <a:p>
            <a:r>
              <a:rPr lang="ru-RU" dirty="0"/>
              <a:t>4 </a:t>
            </a:r>
            <a:r>
              <a:rPr lang="ru-RU" dirty="0" err="1"/>
              <a:t>Leaf</a:t>
            </a:r>
            <a:r>
              <a:rPr lang="ru-RU" dirty="0"/>
              <a:t>-коммутатора (точки подключения устройств)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Преимущества: предсказуемость, масштабируемость, высокая пропускная способность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Все соединения </a:t>
            </a:r>
            <a:r>
              <a:rPr lang="ru-RU" dirty="0" err="1"/>
              <a:t>Spine-Leaf</a:t>
            </a:r>
            <a:r>
              <a:rPr lang="ru-RU" dirty="0"/>
              <a:t> — </a:t>
            </a:r>
            <a:r>
              <a:rPr lang="en-US" dirty="0"/>
              <a:t>IP </a:t>
            </a:r>
            <a:r>
              <a:rPr lang="ru-RU" dirty="0"/>
              <a:t>связи с </a:t>
            </a:r>
            <a:r>
              <a:rPr lang="ru-RU" dirty="0" err="1"/>
              <a:t>eBGP</a:t>
            </a:r>
            <a:r>
              <a:rPr lang="ru-RU" dirty="0"/>
              <a:t> без фильтрации для максимальной производительности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90857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6DA10-4453-45C5-89B8-D443C4E39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IPv6 </a:t>
            </a:r>
            <a:r>
              <a:rPr lang="ru-RU" dirty="0"/>
              <a:t>в </a:t>
            </a:r>
            <a:r>
              <a:rPr lang="en-US" dirty="0"/>
              <a:t>underlay </a:t>
            </a:r>
            <a:r>
              <a:rPr lang="ru-RU" dirty="0"/>
              <a:t>сети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A723E0-E548-4EE4-9FB6-634E7E88A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Адресное пространство </a:t>
            </a:r>
            <a:r>
              <a:rPr lang="en-US" dirty="0"/>
              <a:t>ULA (Unique Local Address): fd00::/8</a:t>
            </a:r>
          </a:p>
          <a:p>
            <a:r>
              <a:rPr lang="en-US" dirty="0"/>
              <a:t>Loopback-</a:t>
            </a:r>
            <a:r>
              <a:rPr lang="ru-RU" dirty="0"/>
              <a:t>интерфейсы для идентификации устройств: </a:t>
            </a:r>
            <a:r>
              <a:rPr lang="en-US" dirty="0"/>
              <a:t>fd00:cafe:beef::/48</a:t>
            </a:r>
          </a:p>
          <a:p>
            <a:r>
              <a:rPr lang="en-US" dirty="0"/>
              <a:t>Point-to-Point </a:t>
            </a:r>
            <a:r>
              <a:rPr lang="ru-RU" dirty="0"/>
              <a:t>линки — </a:t>
            </a:r>
            <a:r>
              <a:rPr lang="en-US" dirty="0"/>
              <a:t>IPv6 address auto-config </a:t>
            </a:r>
            <a:r>
              <a:rPr lang="ru-RU" dirty="0"/>
              <a:t>на всех соединениях </a:t>
            </a:r>
            <a:r>
              <a:rPr lang="en-US" dirty="0"/>
              <a:t>Spine-Leaf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Преимущество: экономия адресного пространства, упрощение конфигурации</a:t>
            </a:r>
          </a:p>
        </p:txBody>
      </p:sp>
    </p:spTree>
    <p:extLst>
      <p:ext uri="{BB962C8B-B14F-4D97-AF65-F5344CB8AC3E}">
        <p14:creationId xmlns:p14="http://schemas.microsoft.com/office/powerpoint/2010/main" val="1153202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9D8B7-B90B-42BD-972D-770488F2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Механизмы отказоустойчивости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E50125-C80F-498D-BFE9-723A57E6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Link Tracking Group — </a:t>
            </a:r>
            <a:r>
              <a:rPr lang="ru-RU" dirty="0"/>
              <a:t>защита от изоляции ядра:</a:t>
            </a:r>
          </a:p>
          <a:p>
            <a:r>
              <a:rPr lang="ru-RU" dirty="0"/>
              <a:t>При потере всех </a:t>
            </a:r>
            <a:r>
              <a:rPr lang="en-US" dirty="0"/>
              <a:t>uplink-</a:t>
            </a:r>
            <a:r>
              <a:rPr lang="ru-RU" dirty="0"/>
              <a:t>интерфейсов автоматически блокируются </a:t>
            </a:r>
            <a:r>
              <a:rPr lang="en-US" dirty="0"/>
              <a:t>downstream-</a:t>
            </a:r>
            <a:r>
              <a:rPr lang="ru-RU" dirty="0"/>
              <a:t>порты</a:t>
            </a:r>
          </a:p>
          <a:p>
            <a:r>
              <a:rPr lang="ru-RU" dirty="0"/>
              <a:t>Предотвращение "черных дыр" в сети</a:t>
            </a:r>
          </a:p>
          <a:p>
            <a:endParaRPr lang="ru-RU" dirty="0"/>
          </a:p>
          <a:p>
            <a:pPr marL="0" indent="0">
              <a:buNone/>
            </a:pPr>
            <a:r>
              <a:rPr lang="en-US" dirty="0"/>
              <a:t>MLAG </a:t>
            </a:r>
            <a:r>
              <a:rPr lang="ru-RU" dirty="0"/>
              <a:t>на базе </a:t>
            </a:r>
            <a:r>
              <a:rPr lang="en-US" dirty="0"/>
              <a:t>EVPN Ethernet Segment:</a:t>
            </a:r>
          </a:p>
          <a:p>
            <a:r>
              <a:rPr lang="ru-RU" dirty="0"/>
              <a:t>Резервирование подключения клиентских устройств</a:t>
            </a:r>
          </a:p>
          <a:p>
            <a:r>
              <a:rPr lang="ru-RU" dirty="0"/>
              <a:t>Единый </a:t>
            </a:r>
            <a:r>
              <a:rPr lang="en-US" dirty="0"/>
              <a:t>LACP domain </a:t>
            </a:r>
            <a:r>
              <a:rPr lang="ru-RU" dirty="0"/>
              <a:t>для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301647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5F6CCF-2AB6-4A41-B9EB-1F15615D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маршрутизации </a:t>
            </a:r>
            <a:r>
              <a:rPr lang="ru-RU" dirty="0" err="1"/>
              <a:t>Underlay</a:t>
            </a:r>
            <a:r>
              <a:rPr lang="ru-RU" dirty="0"/>
              <a:t> — </a:t>
            </a:r>
            <a:r>
              <a:rPr lang="ru-RU" dirty="0" err="1"/>
              <a:t>eBGP</a:t>
            </a:r>
            <a:r>
              <a:rPr lang="ru-RU" dirty="0"/>
              <a:t> с IPv6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7882EA-2B70-4B00-B427-16691ECD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Соответствие RFC 7938 — рекомендации для ЦОД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Нумерация </a:t>
            </a:r>
            <a:r>
              <a:rPr lang="ru-RU" dirty="0" err="1"/>
              <a:t>Autonomous</a:t>
            </a:r>
            <a:r>
              <a:rPr lang="ru-RU" dirty="0"/>
              <a:t> Systems:</a:t>
            </a:r>
          </a:p>
          <a:p>
            <a:r>
              <a:rPr lang="ru-RU" dirty="0" err="1"/>
              <a:t>Spine</a:t>
            </a:r>
            <a:r>
              <a:rPr lang="ru-RU" dirty="0"/>
              <a:t>-коммутаторы: AS 65000</a:t>
            </a:r>
          </a:p>
          <a:p>
            <a:r>
              <a:rPr lang="ru-RU" dirty="0" err="1"/>
              <a:t>Leaf</a:t>
            </a:r>
            <a:r>
              <a:rPr lang="ru-RU" dirty="0"/>
              <a:t>-коммутаторы: уникальные AS 65101-65104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Динамическая </a:t>
            </a:r>
            <a:r>
              <a:rPr lang="ru-RU" dirty="0" err="1"/>
              <a:t>listen</a:t>
            </a:r>
            <a:r>
              <a:rPr lang="ru-RU" dirty="0"/>
              <a:t>-сессия на </a:t>
            </a:r>
            <a:r>
              <a:rPr lang="ru-RU" dirty="0" err="1"/>
              <a:t>Spine</a:t>
            </a:r>
            <a:r>
              <a:rPr lang="ru-RU" dirty="0"/>
              <a:t> — автоматическое установление </a:t>
            </a:r>
            <a:r>
              <a:rPr lang="ru-RU" dirty="0" err="1"/>
              <a:t>пиринга</a:t>
            </a:r>
            <a:r>
              <a:rPr lang="ru-RU" dirty="0"/>
              <a:t> с новыми </a:t>
            </a:r>
            <a:r>
              <a:rPr lang="ru-RU" dirty="0" err="1"/>
              <a:t>Leaf</a:t>
            </a:r>
            <a:endParaRPr lang="ru-RU" dirty="0"/>
          </a:p>
          <a:p>
            <a:pPr marL="0" indent="0">
              <a:buNone/>
            </a:pPr>
            <a:r>
              <a:rPr lang="ru-RU" dirty="0" err="1"/>
              <a:t>Пиринг</a:t>
            </a:r>
            <a:r>
              <a:rPr lang="ru-RU" dirty="0"/>
              <a:t> на основе Link-Local адресов — отсутствие необходимости назначать </a:t>
            </a:r>
            <a:r>
              <a:rPr lang="ru-RU" dirty="0" err="1"/>
              <a:t>PtP</a:t>
            </a:r>
            <a:r>
              <a:rPr lang="ru-RU" dirty="0"/>
              <a:t> адреса</a:t>
            </a:r>
          </a:p>
        </p:txBody>
      </p:sp>
    </p:spTree>
    <p:extLst>
      <p:ext uri="{BB962C8B-B14F-4D97-AF65-F5344CB8AC3E}">
        <p14:creationId xmlns:p14="http://schemas.microsoft.com/office/powerpoint/2010/main" val="2804907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BF538-C2B9-4D71-9B23-49806FCE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BGP-</a:t>
            </a:r>
            <a:r>
              <a:rPr lang="ru-RU" dirty="0"/>
              <a:t>конфигурация </a:t>
            </a:r>
            <a:r>
              <a:rPr lang="en-US" dirty="0"/>
              <a:t>Spine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1584F3-1C28-4444-81A3-D9D72A6EA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Ключевые настройки:</a:t>
            </a:r>
          </a:p>
          <a:p>
            <a:pPr marL="0" indent="0">
              <a:buNone/>
            </a:pPr>
            <a:r>
              <a:rPr lang="en-US" dirty="0" err="1"/>
              <a:t>bgp</a:t>
            </a:r>
            <a:r>
              <a:rPr lang="en-US" dirty="0"/>
              <a:t> listen range fe80::/10 — </a:t>
            </a:r>
            <a:r>
              <a:rPr lang="ru-RU" dirty="0"/>
              <a:t>автоматическое обнаружение </a:t>
            </a:r>
            <a:r>
              <a:rPr lang="en-US" dirty="0"/>
              <a:t>Leaf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Две </a:t>
            </a:r>
            <a:r>
              <a:rPr lang="en-US" dirty="0"/>
              <a:t>peer-</a:t>
            </a:r>
            <a:r>
              <a:rPr lang="ru-RU" dirty="0"/>
              <a:t>группы:</a:t>
            </a:r>
          </a:p>
          <a:p>
            <a:r>
              <a:rPr lang="en-US" dirty="0"/>
              <a:t>UNDERLAY — </a:t>
            </a:r>
            <a:r>
              <a:rPr lang="ru-RU" dirty="0"/>
              <a:t>обмен </a:t>
            </a:r>
            <a:r>
              <a:rPr lang="en-US" dirty="0"/>
              <a:t>IPv6 </a:t>
            </a:r>
            <a:r>
              <a:rPr lang="ru-RU" dirty="0"/>
              <a:t>маршрутами через прямые линки</a:t>
            </a:r>
          </a:p>
          <a:p>
            <a:r>
              <a:rPr lang="en-US" dirty="0"/>
              <a:t>OVERLAY — </a:t>
            </a:r>
            <a:r>
              <a:rPr lang="ru-RU" dirty="0"/>
              <a:t>обмен </a:t>
            </a:r>
            <a:r>
              <a:rPr lang="en-US" dirty="0"/>
              <a:t>EVPN </a:t>
            </a:r>
            <a:r>
              <a:rPr lang="ru-RU" dirty="0"/>
              <a:t>маршрутами через </a:t>
            </a:r>
            <a:r>
              <a:rPr lang="en-US" dirty="0"/>
              <a:t>Loopback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neighbor OVERLAY next-hop-unchanged — </a:t>
            </a:r>
            <a:r>
              <a:rPr lang="ru-RU" dirty="0"/>
              <a:t>критически важно для </a:t>
            </a:r>
            <a:r>
              <a:rPr lang="en-US" dirty="0"/>
              <a:t>EVPN (next-hop </a:t>
            </a:r>
            <a:r>
              <a:rPr lang="ru-RU" dirty="0"/>
              <a:t>всегда оригинальный </a:t>
            </a:r>
            <a:r>
              <a:rPr lang="en-US" dirty="0"/>
              <a:t>Leaf-VTEP)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Spine </a:t>
            </a:r>
            <a:r>
              <a:rPr lang="ru-RU" dirty="0"/>
              <a:t>выступают как маршрутные отражатели (</a:t>
            </a:r>
            <a:r>
              <a:rPr lang="en-US" dirty="0"/>
              <a:t>Route Reflectors)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259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147797-C4B0-458E-9047-F441A336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Оверлейная сеть — </a:t>
            </a:r>
            <a:r>
              <a:rPr lang="en-US" dirty="0"/>
              <a:t>VXLAN/EVPN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1536D-B101-45C4-8317-6C5E56574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VXLAN — </a:t>
            </a:r>
            <a:r>
              <a:rPr lang="ru-RU" dirty="0"/>
              <a:t>инкапсуляция трафика клиентов в </a:t>
            </a:r>
            <a:r>
              <a:rPr lang="en-US" dirty="0"/>
              <a:t>UDP-</a:t>
            </a:r>
            <a:r>
              <a:rPr lang="ru-RU" dirty="0"/>
              <a:t>пакеты</a:t>
            </a:r>
          </a:p>
          <a:p>
            <a:endParaRPr lang="ru-RU" dirty="0"/>
          </a:p>
          <a:p>
            <a:pPr marL="0" indent="0">
              <a:buNone/>
            </a:pPr>
            <a:r>
              <a:rPr lang="en-US" dirty="0"/>
              <a:t>EVPN — </a:t>
            </a:r>
            <a:r>
              <a:rPr lang="ru-RU" dirty="0"/>
              <a:t>контрольная плоскость для </a:t>
            </a:r>
            <a:r>
              <a:rPr lang="en-US" dirty="0"/>
              <a:t>VXLAN (</a:t>
            </a:r>
            <a:r>
              <a:rPr lang="ru-RU" dirty="0"/>
              <a:t>распространение </a:t>
            </a:r>
            <a:r>
              <a:rPr lang="en-US" dirty="0"/>
              <a:t>MAC-</a:t>
            </a:r>
            <a:r>
              <a:rPr lang="ru-RU" dirty="0"/>
              <a:t>адресов, маршрутов, </a:t>
            </a:r>
            <a:r>
              <a:rPr lang="en-US" dirty="0"/>
              <a:t>VNI)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VTEP (VXLAN Tunnel End Points) — Leaf-</a:t>
            </a:r>
            <a:r>
              <a:rPr lang="ru-RU" dirty="0"/>
              <a:t>коммутаторы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Маппинг:</a:t>
            </a:r>
          </a:p>
          <a:p>
            <a:r>
              <a:rPr lang="en-US" dirty="0" err="1"/>
              <a:t>vxlan</a:t>
            </a:r>
            <a:r>
              <a:rPr lang="en-US" dirty="0"/>
              <a:t> </a:t>
            </a:r>
            <a:r>
              <a:rPr lang="en-US" dirty="0" err="1"/>
              <a:t>vlan</a:t>
            </a:r>
            <a:r>
              <a:rPr lang="en-US" dirty="0"/>
              <a:t> &lt;VLAN&gt; </a:t>
            </a:r>
            <a:r>
              <a:rPr lang="en-US" dirty="0" err="1"/>
              <a:t>vni</a:t>
            </a:r>
            <a:r>
              <a:rPr lang="en-US" dirty="0"/>
              <a:t> &lt;VNI&gt; — L2 </a:t>
            </a:r>
            <a:r>
              <a:rPr lang="ru-RU" dirty="0"/>
              <a:t>сегменты</a:t>
            </a:r>
          </a:p>
          <a:p>
            <a:r>
              <a:rPr lang="en-US" dirty="0" err="1"/>
              <a:t>vxlan</a:t>
            </a:r>
            <a:r>
              <a:rPr lang="en-US" dirty="0"/>
              <a:t> </a:t>
            </a:r>
            <a:r>
              <a:rPr lang="en-US" dirty="0" err="1"/>
              <a:t>vrf</a:t>
            </a:r>
            <a:r>
              <a:rPr lang="en-US" dirty="0"/>
              <a:t> &lt;VRF&gt; </a:t>
            </a:r>
            <a:r>
              <a:rPr lang="en-US" dirty="0" err="1"/>
              <a:t>vni</a:t>
            </a:r>
            <a:r>
              <a:rPr lang="en-US" dirty="0"/>
              <a:t> &lt;L3VNI&gt; — L3 </a:t>
            </a:r>
            <a:r>
              <a:rPr lang="ru-RU" dirty="0"/>
              <a:t>маршрутизация между </a:t>
            </a:r>
            <a:r>
              <a:rPr lang="en-US" dirty="0"/>
              <a:t>VRF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5046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AB130-D114-4D14-B824-2FD6AA12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схема сети </a:t>
            </a:r>
            <a:r>
              <a:rPr lang="en-US" dirty="0"/>
              <a:t>IP </a:t>
            </a:r>
            <a:r>
              <a:rPr lang="ru-RU" dirty="0"/>
              <a:t>фабрики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E9418C6-5188-4F5C-B58C-0FE9EA4AE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85" y="1426956"/>
            <a:ext cx="10518114" cy="5281167"/>
          </a:xfrm>
        </p:spPr>
      </p:pic>
    </p:spTree>
    <p:extLst>
      <p:ext uri="{BB962C8B-B14F-4D97-AF65-F5344CB8AC3E}">
        <p14:creationId xmlns:p14="http://schemas.microsoft.com/office/powerpoint/2010/main" val="401373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EA5C1A-3955-4B76-92D6-F01D562B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Мультиарендность</a:t>
            </a:r>
            <a:r>
              <a:rPr lang="ru-RU" dirty="0"/>
              <a:t> через </a:t>
            </a:r>
            <a:r>
              <a:rPr lang="en-US" dirty="0"/>
              <a:t>VRF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57A143-E599-4558-B6AE-6E1D5FBFB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Два клиентских </a:t>
            </a:r>
            <a:r>
              <a:rPr lang="en-US" dirty="0"/>
              <a:t>VRF:</a:t>
            </a:r>
          </a:p>
          <a:p>
            <a:r>
              <a:rPr lang="en-US" dirty="0" err="1"/>
              <a:t>vrf</a:t>
            </a:r>
            <a:r>
              <a:rPr lang="en-US" dirty="0"/>
              <a:t>-red — </a:t>
            </a:r>
            <a:r>
              <a:rPr lang="ru-RU" dirty="0"/>
              <a:t>сеть 10.10.10.0/24 (</a:t>
            </a:r>
            <a:r>
              <a:rPr lang="en-US" dirty="0"/>
              <a:t>VLAN 100, VNI 19100)</a:t>
            </a:r>
          </a:p>
          <a:p>
            <a:r>
              <a:rPr lang="en-US" dirty="0" err="1"/>
              <a:t>vrf</a:t>
            </a:r>
            <a:r>
              <a:rPr lang="en-US" dirty="0"/>
              <a:t>-blue — </a:t>
            </a:r>
            <a:r>
              <a:rPr lang="ru-RU" dirty="0"/>
              <a:t>сеть 30.30.30.0/24 (</a:t>
            </a:r>
            <a:r>
              <a:rPr lang="en-US" dirty="0"/>
              <a:t>VLAN 300, VNI 19300)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Управление маршрутами через технологические </a:t>
            </a:r>
            <a:r>
              <a:rPr lang="en-US" dirty="0"/>
              <a:t>Route Target:</a:t>
            </a:r>
          </a:p>
          <a:p>
            <a:r>
              <a:rPr lang="ru-RU" dirty="0"/>
              <a:t>Экспорт с </a:t>
            </a:r>
            <a:r>
              <a:rPr lang="en-US" dirty="0"/>
              <a:t>RT 65000:1000</a:t>
            </a:r>
          </a:p>
          <a:p>
            <a:r>
              <a:rPr lang="ru-RU" dirty="0"/>
              <a:t>Импорт с </a:t>
            </a:r>
            <a:r>
              <a:rPr lang="en-US" dirty="0"/>
              <a:t>RT 65000:2000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Виртуальный шлюз (</a:t>
            </a:r>
            <a:r>
              <a:rPr lang="en-US" dirty="0"/>
              <a:t>anycast gateway):</a:t>
            </a:r>
          </a:p>
          <a:p>
            <a:r>
              <a:rPr lang="en-US" dirty="0" err="1"/>
              <a:t>ip</a:t>
            </a:r>
            <a:r>
              <a:rPr lang="en-US" dirty="0"/>
              <a:t> address virtual 10.10.10.254/24 — </a:t>
            </a:r>
            <a:r>
              <a:rPr lang="ru-RU" dirty="0"/>
              <a:t>единый адрес шлюза на </a:t>
            </a:r>
            <a:r>
              <a:rPr lang="en-US" dirty="0"/>
              <a:t>Leaf</a:t>
            </a:r>
            <a:r>
              <a:rPr lang="ru-RU" dirty="0"/>
              <a:t>-01(02)</a:t>
            </a:r>
          </a:p>
          <a:p>
            <a:r>
              <a:rPr lang="en-US" dirty="0" err="1"/>
              <a:t>ip</a:t>
            </a:r>
            <a:r>
              <a:rPr lang="en-US" dirty="0"/>
              <a:t> address virtual </a:t>
            </a:r>
            <a:r>
              <a:rPr lang="ru-RU" dirty="0"/>
              <a:t>3</a:t>
            </a:r>
            <a:r>
              <a:rPr lang="en-US" dirty="0"/>
              <a:t>0.</a:t>
            </a:r>
            <a:r>
              <a:rPr lang="ru-RU" dirty="0"/>
              <a:t>3</a:t>
            </a:r>
            <a:r>
              <a:rPr lang="en-US" dirty="0"/>
              <a:t>0.</a:t>
            </a:r>
            <a:r>
              <a:rPr lang="ru-RU" dirty="0"/>
              <a:t>3</a:t>
            </a:r>
            <a:r>
              <a:rPr lang="en-US" dirty="0"/>
              <a:t>0.254/24 — </a:t>
            </a:r>
            <a:r>
              <a:rPr lang="ru-RU" dirty="0"/>
              <a:t>единый адрес шлюза на </a:t>
            </a:r>
            <a:r>
              <a:rPr lang="en-US" dirty="0"/>
              <a:t>Leaf</a:t>
            </a:r>
            <a:r>
              <a:rPr lang="ru-RU" dirty="0"/>
              <a:t>-03(04)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161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FF291-9D4C-4243-9E61-EDBFF68C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Подключение к внешнему маршрутизатору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FCA106-6C76-4CCA-8827-1F0BD087B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Модель подключения к роутеру "</a:t>
            </a:r>
            <a:r>
              <a:rPr lang="en-US" dirty="0"/>
              <a:t>Option A" (VRF-to-VRF) — </a:t>
            </a:r>
            <a:r>
              <a:rPr lang="ru-RU" dirty="0"/>
              <a:t>аналогично </a:t>
            </a:r>
            <a:r>
              <a:rPr lang="en-US" dirty="0"/>
              <a:t>MPLS L3VPN</a:t>
            </a:r>
          </a:p>
          <a:p>
            <a:pPr marL="0" indent="0">
              <a:buNone/>
            </a:pPr>
            <a:r>
              <a:rPr lang="ru-RU" dirty="0"/>
              <a:t>Технологические </a:t>
            </a:r>
            <a:r>
              <a:rPr lang="en-US" dirty="0"/>
              <a:t>VRF </a:t>
            </a:r>
            <a:r>
              <a:rPr lang="ru-RU" dirty="0"/>
              <a:t>на граничных </a:t>
            </a:r>
            <a:r>
              <a:rPr lang="en-US" dirty="0"/>
              <a:t>Leaf:</a:t>
            </a:r>
          </a:p>
          <a:p>
            <a:r>
              <a:rPr lang="en-US" dirty="0" err="1"/>
              <a:t>vrf</a:t>
            </a:r>
            <a:r>
              <a:rPr lang="en-US" dirty="0"/>
              <a:t>-tech-traffic-to-fabric — </a:t>
            </a:r>
            <a:r>
              <a:rPr lang="ru-RU" dirty="0"/>
              <a:t>маршруты из фабрики к роутеру</a:t>
            </a:r>
          </a:p>
          <a:p>
            <a:r>
              <a:rPr lang="en-US" dirty="0" err="1"/>
              <a:t>vrf</a:t>
            </a:r>
            <a:r>
              <a:rPr lang="en-US" dirty="0"/>
              <a:t>-tech-traffic-from-fabric — </a:t>
            </a:r>
            <a:r>
              <a:rPr lang="ru-RU" dirty="0"/>
              <a:t>маршруты от роутера в фабрику (дефолтный маршрут)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Два независимых линка на каждый </a:t>
            </a:r>
            <a:r>
              <a:rPr lang="en-US" dirty="0"/>
              <a:t>Leaf — </a:t>
            </a:r>
            <a:r>
              <a:rPr lang="ru-RU" dirty="0"/>
              <a:t>отказоустойчивость и балансировка</a:t>
            </a:r>
          </a:p>
          <a:p>
            <a:pPr marL="0" indent="0">
              <a:buNone/>
            </a:pPr>
            <a:r>
              <a:rPr lang="en-US" dirty="0"/>
              <a:t>BGP-</a:t>
            </a:r>
            <a:r>
              <a:rPr lang="ru-RU" dirty="0"/>
              <a:t>сессии </a:t>
            </a:r>
            <a:r>
              <a:rPr lang="en-US" dirty="0"/>
              <a:t>IPv4 </a:t>
            </a:r>
            <a:r>
              <a:rPr lang="ru-RU" dirty="0"/>
              <a:t>между </a:t>
            </a:r>
            <a:r>
              <a:rPr lang="en-US" dirty="0"/>
              <a:t>Leaf </a:t>
            </a:r>
            <a:r>
              <a:rPr lang="ru-RU" dirty="0"/>
              <a:t>и </a:t>
            </a:r>
            <a:r>
              <a:rPr lang="en-US" dirty="0"/>
              <a:t>Router-1 </a:t>
            </a:r>
            <a:r>
              <a:rPr lang="ru-RU" dirty="0"/>
              <a:t>в технологических </a:t>
            </a:r>
            <a:r>
              <a:rPr lang="en-US" dirty="0"/>
              <a:t>VRF</a:t>
            </a:r>
          </a:p>
          <a:p>
            <a:pPr marL="0" indent="0">
              <a:buNone/>
            </a:pPr>
            <a:r>
              <a:rPr lang="en-US" dirty="0" err="1"/>
              <a:t>PtP</a:t>
            </a:r>
            <a:r>
              <a:rPr lang="en-US" dirty="0"/>
              <a:t> </a:t>
            </a:r>
            <a:r>
              <a:rPr lang="ru-RU" dirty="0"/>
              <a:t>линки: 10.0.0.0/30, 10.0.0.4/30, 10.0.0.8/30, 10.0.0.12/30</a:t>
            </a:r>
          </a:p>
        </p:txBody>
      </p:sp>
    </p:spTree>
    <p:extLst>
      <p:ext uri="{BB962C8B-B14F-4D97-AF65-F5344CB8AC3E}">
        <p14:creationId xmlns:p14="http://schemas.microsoft.com/office/powerpoint/2010/main" val="600804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BD893-20A9-49F0-A0D1-733BA444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Политика маршрутизации на внешнем роутере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561829-B5BE-4833-A424-45EA60BE8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Только маршрут по умолчанию (0.0.0.0/0) анонсируется в фабрику</a:t>
            </a:r>
          </a:p>
          <a:p>
            <a:r>
              <a:rPr lang="ru-RU" dirty="0"/>
              <a:t>Принимаются только специфические клиентские маршруты от фабрики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Защита от петель маршрутизации — префикс-листы:</a:t>
            </a:r>
          </a:p>
          <a:p>
            <a:r>
              <a:rPr lang="ru-RU" dirty="0"/>
              <a:t>ONLY-DEFAULT — разрешает только 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route</a:t>
            </a:r>
            <a:endParaRPr lang="ru-RU" dirty="0"/>
          </a:p>
          <a:p>
            <a:r>
              <a:rPr lang="ru-RU" dirty="0"/>
              <a:t>DENY-ANY — блокирует анонс 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route</a:t>
            </a:r>
            <a:r>
              <a:rPr lang="ru-RU" dirty="0"/>
              <a:t> обратно в фабрику</a:t>
            </a:r>
          </a:p>
        </p:txBody>
      </p:sp>
    </p:spTree>
    <p:extLst>
      <p:ext uri="{BB962C8B-B14F-4D97-AF65-F5344CB8AC3E}">
        <p14:creationId xmlns:p14="http://schemas.microsoft.com/office/powerpoint/2010/main" val="3755072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AB130-D114-4D14-B824-2FD6AA12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Логическая схема подключения клиентов к сети </a:t>
            </a:r>
            <a:r>
              <a:rPr lang="en-US" dirty="0"/>
              <a:t>IP </a:t>
            </a:r>
            <a:r>
              <a:rPr lang="ru-RU" dirty="0"/>
              <a:t>фабрике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B37AFDE-76FB-4A9C-A579-D04191848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1311"/>
            <a:ext cx="9874843" cy="4667998"/>
          </a:xfrm>
        </p:spPr>
      </p:pic>
    </p:spTree>
    <p:extLst>
      <p:ext uri="{BB962C8B-B14F-4D97-AF65-F5344CB8AC3E}">
        <p14:creationId xmlns:p14="http://schemas.microsoft.com/office/powerpoint/2010/main" val="2513524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4F15C-63F7-44C2-9902-DC7530C51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Направления для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F7A4D9-279A-4BA1-9806-87A6AA006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dirty="0"/>
              <a:t>Безопасность:</a:t>
            </a:r>
          </a:p>
          <a:p>
            <a:pPr>
              <a:lnSpc>
                <a:spcPct val="110000"/>
              </a:lnSpc>
            </a:pPr>
            <a:r>
              <a:rPr lang="ru-RU" dirty="0"/>
              <a:t>Внедрение ACL и политик безопасности</a:t>
            </a:r>
          </a:p>
          <a:p>
            <a:pPr>
              <a:lnSpc>
                <a:spcPct val="110000"/>
              </a:lnSpc>
            </a:pPr>
            <a:r>
              <a:rPr lang="ru-RU" dirty="0"/>
              <a:t>Защита контрольной плоскости (</a:t>
            </a:r>
            <a:r>
              <a:rPr lang="ru-RU" dirty="0" err="1"/>
              <a:t>CoPP</a:t>
            </a:r>
            <a:r>
              <a:rPr lang="ru-RU" dirty="0"/>
              <a:t>)</a:t>
            </a:r>
          </a:p>
          <a:p>
            <a:pPr>
              <a:lnSpc>
                <a:spcPct val="110000"/>
              </a:lnSpc>
            </a:pPr>
            <a:r>
              <a:rPr lang="ru-RU" dirty="0"/>
              <a:t>BGP TTL Security</a:t>
            </a:r>
          </a:p>
          <a:p>
            <a:pPr>
              <a:lnSpc>
                <a:spcPct val="110000"/>
              </a:lnSpc>
            </a:pPr>
            <a:endParaRPr lang="ru-RU" dirty="0"/>
          </a:p>
          <a:p>
            <a:pPr marL="0" indent="0">
              <a:lnSpc>
                <a:spcPct val="110000"/>
              </a:lnSpc>
              <a:buNone/>
            </a:pPr>
            <a:r>
              <a:rPr lang="ru-RU" dirty="0"/>
              <a:t>Мониторинг и управление:</a:t>
            </a:r>
          </a:p>
          <a:p>
            <a:pPr>
              <a:lnSpc>
                <a:spcPct val="110000"/>
              </a:lnSpc>
            </a:pPr>
            <a:r>
              <a:rPr lang="ru-RU" dirty="0"/>
              <a:t>Настройка SNMP, </a:t>
            </a:r>
            <a:r>
              <a:rPr lang="ru-RU" dirty="0" err="1"/>
              <a:t>sFlow</a:t>
            </a:r>
            <a:r>
              <a:rPr lang="ru-RU" dirty="0"/>
              <a:t>/</a:t>
            </a:r>
            <a:r>
              <a:rPr lang="ru-RU" dirty="0" err="1"/>
              <a:t>NetFlow</a:t>
            </a:r>
            <a:endParaRPr lang="ru-RU" dirty="0"/>
          </a:p>
          <a:p>
            <a:pPr>
              <a:lnSpc>
                <a:spcPct val="110000"/>
              </a:lnSpc>
            </a:pPr>
            <a:r>
              <a:rPr lang="ru-RU" dirty="0"/>
              <a:t>Централизованное логирование</a:t>
            </a:r>
          </a:p>
          <a:p>
            <a:pPr>
              <a:lnSpc>
                <a:spcPct val="110000"/>
              </a:lnSpc>
            </a:pPr>
            <a:r>
              <a:rPr lang="ru-RU" dirty="0"/>
              <a:t>Интеграция с системами мониторинга</a:t>
            </a:r>
          </a:p>
          <a:p>
            <a:pPr>
              <a:lnSpc>
                <a:spcPct val="110000"/>
              </a:lnSpc>
            </a:pPr>
            <a:endParaRPr lang="ru-RU" dirty="0"/>
          </a:p>
          <a:p>
            <a:pPr marL="0" indent="0">
              <a:lnSpc>
                <a:spcPct val="110000"/>
              </a:lnSpc>
              <a:buNone/>
            </a:pPr>
            <a:r>
              <a:rPr lang="ru-RU" dirty="0"/>
              <a:t>Автоматизация:</a:t>
            </a:r>
          </a:p>
          <a:p>
            <a:pPr>
              <a:lnSpc>
                <a:spcPct val="110000"/>
              </a:lnSpc>
            </a:pPr>
            <a:r>
              <a:rPr lang="ru-RU" dirty="0"/>
              <a:t>Шаблонизация конфигураций (</a:t>
            </a:r>
            <a:r>
              <a:rPr lang="ru-RU" dirty="0" err="1"/>
              <a:t>Ansible</a:t>
            </a:r>
            <a:r>
              <a:rPr lang="ru-RU" dirty="0"/>
              <a:t>, Python)</a:t>
            </a:r>
          </a:p>
          <a:p>
            <a:pPr>
              <a:lnSpc>
                <a:spcPct val="110000"/>
              </a:lnSpc>
            </a:pPr>
            <a:r>
              <a:rPr lang="ru-RU" dirty="0"/>
              <a:t>CI/CD для сетевых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1828514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0DB9C-9D7A-4772-AA3D-B7357215B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1C2FA0-9492-4EA7-8ABE-C5F0A2D08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Проект успешно реализован в соответствии с современными стандартами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Все требования выполнены:</a:t>
            </a:r>
          </a:p>
          <a:p>
            <a:endParaRPr lang="ru-RU" dirty="0"/>
          </a:p>
          <a:p>
            <a:r>
              <a:rPr lang="ru-RU" dirty="0"/>
              <a:t>IPv6 </a:t>
            </a:r>
            <a:r>
              <a:rPr lang="ru-RU" dirty="0" err="1"/>
              <a:t>underlay</a:t>
            </a:r>
            <a:endParaRPr lang="ru-RU" dirty="0"/>
          </a:p>
          <a:p>
            <a:r>
              <a:rPr lang="ru-RU" dirty="0"/>
              <a:t>VXLAN/EVPN </a:t>
            </a:r>
            <a:r>
              <a:rPr lang="ru-RU" dirty="0" err="1"/>
              <a:t>overlay</a:t>
            </a:r>
            <a:r>
              <a:rPr lang="ru-RU" dirty="0"/>
              <a:t> с </a:t>
            </a:r>
            <a:r>
              <a:rPr lang="ru-RU" dirty="0" err="1"/>
              <a:t>мультиарендностью</a:t>
            </a:r>
            <a:endParaRPr lang="ru-RU" dirty="0"/>
          </a:p>
          <a:p>
            <a:r>
              <a:rPr lang="ru-RU" dirty="0"/>
              <a:t>Отказоустойчивая архитектура</a:t>
            </a:r>
          </a:p>
          <a:p>
            <a:r>
              <a:rPr lang="ru-RU" dirty="0"/>
              <a:t>Внешнее подключение к Интерне</a:t>
            </a:r>
          </a:p>
          <a:p>
            <a:r>
              <a:rPr lang="ru-RU" dirty="0"/>
              <a:t>Изоляция клиентов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 err="1"/>
              <a:t>Решени</a:t>
            </a:r>
            <a:r>
              <a:rPr lang="ru-RU" dirty="0"/>
              <a:t> готово к внедрению в инфраструктуру ЦОД или крупного предприятия</a:t>
            </a:r>
          </a:p>
        </p:txBody>
      </p:sp>
    </p:spTree>
    <p:extLst>
      <p:ext uri="{BB962C8B-B14F-4D97-AF65-F5344CB8AC3E}">
        <p14:creationId xmlns:p14="http://schemas.microsoft.com/office/powerpoint/2010/main" val="800442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318930-7FDC-41EE-A367-9662ADC5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491BC4-4895-412C-8D2C-6B0D7717D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Ссылка </a:t>
            </a:r>
            <a:r>
              <a:rPr lang="ru-RU"/>
              <a:t>на репозиторий </a:t>
            </a:r>
          </a:p>
        </p:txBody>
      </p:sp>
    </p:spTree>
    <p:extLst>
      <p:ext uri="{BB962C8B-B14F-4D97-AF65-F5344CB8AC3E}">
        <p14:creationId xmlns:p14="http://schemas.microsoft.com/office/powerpoint/2010/main" val="24591260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695</Words>
  <Application>Microsoft Office PowerPoint</Application>
  <PresentationFormat>Широкоэкранный</PresentationFormat>
  <Paragraphs>120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Проектирование отказоустойчивой сетевой фабрики на базе протокола IPv6 с обеспечением внешнего подключения к сети Интернет</vt:lpstr>
      <vt:lpstr>Цели и задачи проекта</vt:lpstr>
      <vt:lpstr>Архитектура сети</vt:lpstr>
      <vt:lpstr>IPv6 в underlay сети</vt:lpstr>
      <vt:lpstr>Механизмы отказоустойчивости</vt:lpstr>
      <vt:lpstr>Протокол маршрутизации Underlay — eBGP с IPv6</vt:lpstr>
      <vt:lpstr>BGP-конфигурация Spine</vt:lpstr>
      <vt:lpstr>Оверлейная сеть — VXLAN/EVPN</vt:lpstr>
      <vt:lpstr>Логическая схема сети IP фабрики</vt:lpstr>
      <vt:lpstr>Мультиарендность через VRF</vt:lpstr>
      <vt:lpstr>Подключение к внешнему маршрутизатору</vt:lpstr>
      <vt:lpstr>Политика маршрутизации на внешнем роутере</vt:lpstr>
      <vt:lpstr>Логическая схема подключения клиентов к сети IP фабрике</vt:lpstr>
      <vt:lpstr>Направления для развития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отказоустойчивой сетевой фабрики на базе протокола IPv6 с обеспечением внешнего подключения к сети Интернет</dc:title>
  <dc:creator>Sergey</dc:creator>
  <cp:lastModifiedBy>Sergey</cp:lastModifiedBy>
  <cp:revision>4</cp:revision>
  <dcterms:created xsi:type="dcterms:W3CDTF">2026-03-14T11:13:58Z</dcterms:created>
  <dcterms:modified xsi:type="dcterms:W3CDTF">2026-03-14T11:37:52Z</dcterms:modified>
</cp:coreProperties>
</file>